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Lst>
  <p:notesMasterIdLst>
    <p:notesMasterId r:id="rId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ntext" id="{470bbda7-8436-836b-060c-06b0c79e80b2}">
          <p14:sldIdLst>
            <p14:sldId id="256"/>
          </p14:sldIdLst>
        </p14:section>
        <p14:section name="Findings" id="{d8d316ae-2b5f-06da-388b-44b37dfbf3a7}">
          <p14:sldIdLst>
            <p14:sldId id="257"/>
            <p14:sldId id="258"/>
            <p14:sldId id="25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Gap (pp)</c:v>
                </c:pt>
              </c:strCache>
            </c:strRef>
          </c:tx>
          <c:spPr>
            <a:solidFill>
              <a:srgbClr val="1F4E79"/>
            </a:solidFill>
            <a:effectLst/>
          </c:spPr>
          <c:invertIfNegative val="0"/>
          <c:dLbls>
            <c:numFmt formatCode="0.0" sourceLinked="0"/>
            <c:txPr>
              <a:bodyPr/>
              <a:lstStyle/>
              <a:p>
                <a:pPr>
                  <a:defRPr b="0" i="0" strike="noStrike" sz="1000" u="none">
                    <a:solidFill>
                      <a:srgbClr val="1B1F2A"/>
                    </a:solidFill>
                    <a:latin typeface="+mn-lt"/>
                  </a:defRPr>
                </a:pPr>
              </a:p>
            </c:txPr>
            <c:showLegendKey val="0"/>
            <c:showVal val="1"/>
            <c:showCatName val="0"/>
            <c:showSerName val="0"/>
            <c:showPercent val="0"/>
            <c:showBubbleSize val="0"/>
            <c:showLeaderLines val="0"/>
          </c:dLbls>
          <c:dPt>
            <c:idx val="0"/>
            <c:invertIfNegative val="0"/>
            <c:bubble3D val="0"/>
            <c:spPr>
              <a:solidFill>
                <a:srgbClr val="1F4E79"/>
              </a:solidFill>
              <a:effectLst/>
            </c:spPr>
          </c:dPt>
          <c:dPt>
            <c:idx val="1"/>
            <c:invertIfNegative val="0"/>
            <c:bubble3D val="0"/>
            <c:spPr>
              <a:solidFill>
                <a:srgbClr val="1F4E79"/>
              </a:solidFill>
              <a:effectLst/>
            </c:spPr>
          </c:dPt>
          <c:dPt>
            <c:idx val="2"/>
            <c:invertIfNegative val="0"/>
            <c:bubble3D val="0"/>
            <c:spPr>
              <a:solidFill>
                <a:srgbClr val="1F4E79"/>
              </a:solidFill>
              <a:effectLst/>
            </c:spPr>
          </c:dPt>
          <c:dPt>
            <c:idx val="3"/>
            <c:invertIfNegative val="0"/>
            <c:bubble3D val="0"/>
            <c:spPr>
              <a:solidFill>
                <a:srgbClr val="1F4E79"/>
              </a:solidFill>
              <a:effectLst/>
            </c:spPr>
          </c:dPt>
          <c:dPt>
            <c:idx val="4"/>
            <c:invertIfNegative val="0"/>
            <c:bubble3D val="0"/>
            <c:spPr>
              <a:solidFill>
                <a:srgbClr val="1F4E79"/>
              </a:solidFill>
              <a:effectLst/>
            </c:spPr>
          </c:dPt>
          <c:dPt>
            <c:idx val="5"/>
            <c:invertIfNegative val="0"/>
            <c:bubble3D val="0"/>
            <c:spPr>
              <a:solidFill>
                <a:srgbClr val="1F4E79"/>
              </a:solidFill>
              <a:effectLst/>
            </c:spPr>
          </c:dPt>
          <c:dPt>
            <c:idx val="6"/>
            <c:invertIfNegative val="0"/>
            <c:bubble3D val="0"/>
            <c:spPr>
              <a:solidFill>
                <a:srgbClr val="B7532A"/>
              </a:solidFill>
              <a:effectLst/>
            </c:spPr>
          </c:dPt>
          <c:dPt>
            <c:idx val="7"/>
            <c:invertIfNegative val="0"/>
            <c:bubble3D val="0"/>
            <c:spPr>
              <a:solidFill>
                <a:srgbClr val="1F4E79"/>
              </a:solidFill>
              <a:effectLst/>
            </c:spPr>
          </c:dPt>
          <c:dPt>
            <c:idx val="8"/>
            <c:invertIfNegative val="0"/>
            <c:bubble3D val="0"/>
            <c:spPr>
              <a:solidFill>
                <a:srgbClr val="1F4E79"/>
              </a:solidFill>
              <a:effectLst/>
            </c:spPr>
          </c:dPt>
          <c:dPt>
            <c:idx val="9"/>
            <c:invertIfNegative val="0"/>
            <c:bubble3D val="0"/>
            <c:spPr>
              <a:solidFill>
                <a:srgbClr val="1F4E79"/>
              </a:solidFill>
              <a:effectLst/>
            </c:spPr>
          </c:dPt>
          <c:dPt>
            <c:idx val="10"/>
            <c:invertIfNegative val="0"/>
            <c:bubble3D val="0"/>
            <c:spPr>
              <a:solidFill>
                <a:srgbClr val="1F4E79"/>
              </a:solidFill>
              <a:effectLst/>
            </c:spPr>
          </c:dPt>
          <c:cat>
            <c:multiLvlStrRef>
              <c:f>Sheet1!$A$2:$A$12</c:f>
              <c:multiLvlStrCache>
                <c:ptCount val="11"/>
                <c:lvl>
                  <c:pt idx="0">
                    <c:v>10–14</c:v>
                  </c:pt>
                  <c:pt idx="1">
                    <c:v>15–19</c:v>
                  </c:pt>
                  <c:pt idx="2">
                    <c:v>20–24</c:v>
                  </c:pt>
                  <c:pt idx="3">
                    <c:v>25–29</c:v>
                  </c:pt>
                  <c:pt idx="4">
                    <c:v>30–34</c:v>
                  </c:pt>
                  <c:pt idx="5">
                    <c:v>35–39</c:v>
                  </c:pt>
                  <c:pt idx="6">
                    <c:v>40–44</c:v>
                  </c:pt>
                  <c:pt idx="7">
                    <c:v>45–49</c:v>
                  </c:pt>
                  <c:pt idx="8">
                    <c:v>50–54</c:v>
                  </c:pt>
                  <c:pt idx="9">
                    <c:v>55–59</c:v>
                  </c:pt>
                  <c:pt idx="10">
                    <c:v>60–64</c:v>
                  </c:pt>
                </c:lvl>
              </c:multiLvlStrCache>
            </c:multiLvlStrRef>
          </c:cat>
          <c:val>
            <c:numRef>
              <c:f>Sheet1!$B$2:$B$12</c:f>
              <c:numCache>
                <c:formatCode>General</c:formatCode>
                <c:ptCount val="11"/>
                <c:pt idx="0">
                  <c:v>19.2</c:v>
                </c:pt>
                <c:pt idx="1">
                  <c:v>30.6</c:v>
                </c:pt>
                <c:pt idx="2">
                  <c:v>38.9</c:v>
                </c:pt>
                <c:pt idx="3">
                  <c:v>31.8</c:v>
                </c:pt>
                <c:pt idx="4">
                  <c:v>37.9</c:v>
                </c:pt>
                <c:pt idx="5">
                  <c:v>38.7</c:v>
                </c:pt>
                <c:pt idx="6">
                  <c:v>47.9</c:v>
                </c:pt>
                <c:pt idx="7">
                  <c:v>24.6</c:v>
                </c:pt>
                <c:pt idx="8">
                  <c:v>12</c:v>
                </c:pt>
                <c:pt idx="9">
                  <c:v>36.3</c:v>
                </c:pt>
                <c:pt idx="10">
                  <c:v>38.9</c:v>
                </c:pt>
              </c:numCache>
            </c:numRef>
          </c:val>
        </c:ser>
        <c:dLbls>
          <c:numFmt formatCode="0.0" sourceLinked="0"/>
          <c:txPr>
            <a:bodyPr/>
            <a:lstStyle/>
            <a:p>
              <a:pPr>
                <a:defRPr b="0" i="0" strike="noStrike" sz="1000" u="none">
                  <a:solidFill>
                    <a:srgbClr val="1B1F2A"/>
                  </a:solidFill>
                  <a:latin typeface="+mn-lt"/>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1B1F2A"/>
                </a:solidFill>
                <a:latin typeface="+mn-lt"/>
              </a:defRPr>
            </a:pPr>
            <a:endParaRPr lang="en-US"/>
          </a:p>
        </c:txPr>
        <c:crossAx val="2094734552"/>
        <c:crosses val="autoZero"/>
        <c:auto val="1"/>
        <c:lblAlgn val="ctr"/>
        <c:noMultiLvlLbl val="1"/>
      </c:catAx>
      <c:valAx>
        <c:axId val="2094734552"/>
        <c:scaling>
          <c:orientation val="minMax"/>
          <c:max val="55"/>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Variant 6: Balochistan, rural, from the last two digits of my registration number (22 = 2 x 8 + 6). Two questions: how much do households spend on each student's education, and how does literacy change with age for women and men. Source is the PSLM 2019-20 person file merged with the household file; every statistic is weighted by hhweight.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is R's default geom_point of literate against age: only values 0 and 1, so the dots pile on top of each other and tell us nothing about women versus men. The redesign plots weighted conditional means for five-year age bands, one series per sex, labelled directly with no legend, and annotates the largest gap. What the default shows that the redesign hides: the individual observations and the raw 0/1 nature of the outcome.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Weighted histogram on a log10 scale, bins 0.1 wide from 2.0 to 6.0, density per log10 unit. Weighted median Rs 3,500 versus unweighted Rs 3,000: the weights give more voice to students in households that represent more of the population, so the two differ. The 90th percentile is Rs 18,700 and the 10th is Rs 600, a ratio of 31.17. One student fell outside the plotted range.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Weighted literacy rates, rural Balochistan, persons 10-64 (n = 5,677). Women 15-19: 33.3% vs men 63.8%. Women 55-59: 3.5% vs men 39.7%. The largest gap is the 40-44 band at 47.9 points. This is descriptive: it cannot tell us the causes of the gap, and because it is a cross-section, differences across age bands mix generations with 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14324F"/>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868680"/>
          </a:xfrm>
          <a:prstGeom prst="rect">
            <a:avLst/>
          </a:prstGeom>
          <a:noFill/>
          <a:ln/>
        </p:spPr>
        <p:txBody>
          <a:bodyPr wrap="square" rtlCol="0"/>
          <a:lstStyle>
            <a:lvl1pPr algn="l" indent="0" marL="0">
              <a:buNone/>
              <a:defRPr lang="en-US" sz="2600" b="1" dirty="0">
                <a:solidFill>
                  <a:schemeClr val="tx2"/>
                </a:solidFill>
              </a:defRPr>
            </a:lvl1pPr>
          </a:lstStyle>
          <a:p>
            <a:pPr algn="l" indent="0" marL="0">
              <a:buNone/>
            </a:pPr>
            <a:endParaRPr lang="en-US" sz="2600" dirty="0"/>
          </a:p>
        </p:txBody>
      </p:sp>
      <p:sp>
        <p:nvSpPr>
          <p:cNvPr id="25" name="Slide Number Placeholder 0"/>
          <p:cNvSpPr>
            <a:spLocks noGrp="1"/>
          </p:cNvSpPr>
          <p:nvPr>
            <p:ph type="sldNum" sz="quarter" idx="4294967295"/>
          </p:nvPr>
        </p:nvSpPr>
        <p:spPr>
          <a:xfrm>
            <a:off x="8412480" y="4754880"/>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412480" y="4754880"/>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3.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Course tag"/>
          <p:cNvSpPr txBox="1"/>
          <p:nvPr/>
        </p:nvSpPr>
        <p:spPr>
          <a:xfrm>
            <a:off x="548640" y="502920"/>
            <a:ext cx="4754880" cy="274320"/>
          </a:xfrm>
          <a:prstGeom prst="rect">
            <a:avLst/>
          </a:prstGeom>
          <a:noFill/>
          <a:ln/>
        </p:spPr>
        <p:txBody>
          <a:bodyPr wrap="square" lIns="0" tIns="0" rIns="0" bIns="0" rtlCol="0" anchor="ctr"/>
          <a:lstStyle/>
          <a:p>
            <a:pPr indent="0" marL="0">
              <a:buNone/>
            </a:pPr>
            <a:r>
              <a:rPr lang="en-US" sz="1200" b="1" spc="300" kern="0" dirty="0">
                <a:solidFill>
                  <a:schemeClr val="accent4"/>
                </a:solidFill>
              </a:rPr>
              <a:t>ECO346  |  FALL 2026  |  SECTION B</a:t>
            </a:r>
            <a:endParaRPr lang="en-US" sz="1200" dirty="0"/>
          </a:p>
        </p:txBody>
      </p:sp>
      <p:sp>
        <p:nvSpPr>
          <p:cNvPr id="3" name="Deck title"/>
          <p:cNvSpPr txBox="1"/>
          <p:nvPr/>
        </p:nvSpPr>
        <p:spPr>
          <a:xfrm>
            <a:off x="548640" y="914400"/>
            <a:ext cx="4754880" cy="1737360"/>
          </a:xfrm>
          <a:prstGeom prst="rect">
            <a:avLst/>
          </a:prstGeom>
          <a:noFill/>
          <a:ln/>
        </p:spPr>
        <p:txBody>
          <a:bodyPr wrap="square" lIns="0" tIns="0" rIns="0" bIns="0" rtlCol="0" anchor="t"/>
          <a:lstStyle/>
          <a:p>
            <a:pPr indent="0" marL="0">
              <a:buNone/>
            </a:pPr>
            <a:r>
              <a:rPr lang="en-US" sz="3600" b="1" dirty="0">
                <a:solidFill>
                  <a:schemeClr val="bg1"/>
                </a:solidFill>
                <a:latin typeface="Cambria" pitchFamily="34" charset="0"/>
                <a:ea typeface="Cambria" pitchFamily="34" charset="-122"/>
                <a:cs typeface="Cambria" pitchFamily="34" charset="-120"/>
              </a:rPr>
              <a:t>Education spending and the gender literacy gap</a:t>
            </a:r>
            <a:endParaRPr lang="en-US" sz="3600" dirty="0"/>
          </a:p>
        </p:txBody>
      </p:sp>
      <p:sp>
        <p:nvSpPr>
          <p:cNvPr id="4" name="Subtitle"/>
          <p:cNvSpPr txBox="1"/>
          <p:nvPr/>
        </p:nvSpPr>
        <p:spPr>
          <a:xfrm>
            <a:off x="548640" y="2743200"/>
            <a:ext cx="4754880" cy="365760"/>
          </a:xfrm>
          <a:prstGeom prst="rect">
            <a:avLst/>
          </a:prstGeom>
          <a:noFill/>
          <a:ln/>
        </p:spPr>
        <p:txBody>
          <a:bodyPr wrap="square" lIns="0" tIns="0" rIns="0" bIns="0" rtlCol="0" anchor="ctr"/>
          <a:lstStyle/>
          <a:p>
            <a:pPr indent="0" marL="0">
              <a:buNone/>
            </a:pPr>
            <a:r>
              <a:rPr lang="en-US" sz="1800" dirty="0">
                <a:solidFill>
                  <a:schemeClr val="bg2"/>
                </a:solidFill>
              </a:rPr>
              <a:t>Rural Balochistan, PSLM 2019–20</a:t>
            </a:r>
            <a:endParaRPr lang="en-US" sz="1800" dirty="0"/>
          </a:p>
        </p:txBody>
      </p:sp>
      <p:sp>
        <p:nvSpPr>
          <p:cNvPr id="5" name="Variant details"/>
          <p:cNvSpPr txBox="1"/>
          <p:nvPr/>
        </p:nvSpPr>
        <p:spPr>
          <a:xfrm>
            <a:off x="548640" y="3931920"/>
            <a:ext cx="4754880" cy="594360"/>
          </a:xfrm>
          <a:prstGeom prst="rect">
            <a:avLst/>
          </a:prstGeom>
          <a:noFill/>
          <a:ln/>
        </p:spPr>
        <p:txBody>
          <a:bodyPr wrap="square" lIns="0" tIns="0" rIns="0" bIns="0" rtlCol="0" anchor="ctr"/>
          <a:lstStyle/>
          <a:p>
            <a:pPr indent="0" marL="0">
              <a:buNone/>
            </a:pPr>
            <a:r>
              <a:rPr lang="en-US" sz="1400" dirty="0">
                <a:solidFill>
                  <a:schemeClr val="bg2"/>
                </a:solidFill>
              </a:rPr>
              <a:t>Registration no. FA24-BEDS-022</a:t>
            </a:r>
            <a:endParaRPr lang="en-US" sz="1400" dirty="0"/>
          </a:p>
          <a:p>
            <a:pPr indent="0" marL="0">
              <a:buNone/>
            </a:pPr>
            <a:r>
              <a:rPr lang="en-US" sz="1400" dirty="0">
                <a:solidFill>
                  <a:schemeClr val="bg2"/>
                </a:solidFill>
              </a:rPr>
              <a:t>Variant 6  (22 = 2 × 8 + 6)  →  Balochistan, rural</a:t>
            </a:r>
            <a:endParaRPr lang="en-US" sz="1400" dirty="0"/>
          </a:p>
        </p:txBody>
      </p:sp>
      <p:sp>
        <p:nvSpPr>
          <p:cNvPr id="6" name="Stat card 1"/>
          <p:cNvSpPr/>
          <p:nvPr/>
        </p:nvSpPr>
        <p:spPr>
          <a:xfrm>
            <a:off x="5760720" y="640080"/>
            <a:ext cx="2834640" cy="1188720"/>
          </a:xfrm>
          <a:prstGeom prst="roundRect">
            <a:avLst>
              <a:gd name="adj" fmla="val 9231"/>
            </a:avLst>
          </a:prstGeom>
          <a:solidFill>
            <a:schemeClr val="accent1"/>
          </a:solidFill>
          <a:ln/>
        </p:spPr>
      </p:sp>
      <p:sp>
        <p:nvSpPr>
          <p:cNvPr id="7" name="Stat value 1"/>
          <p:cNvSpPr txBox="1"/>
          <p:nvPr/>
        </p:nvSpPr>
        <p:spPr>
          <a:xfrm>
            <a:off x="5943600" y="731520"/>
            <a:ext cx="2468880" cy="548640"/>
          </a:xfrm>
          <a:prstGeom prst="rect">
            <a:avLst/>
          </a:prstGeom>
          <a:noFill/>
          <a:ln/>
        </p:spPr>
        <p:txBody>
          <a:bodyPr wrap="square" lIns="0" tIns="0" rIns="0" bIns="0" rtlCol="0" anchor="ctr"/>
          <a:lstStyle/>
          <a:p>
            <a:pPr indent="0" marL="0">
              <a:buNone/>
            </a:pPr>
            <a:r>
              <a:rPr lang="en-US" sz="3000" b="1" dirty="0">
                <a:solidFill>
                  <a:schemeClr val="bg1"/>
                </a:solidFill>
                <a:latin typeface="Cambria" pitchFamily="34" charset="0"/>
                <a:ea typeface="Cambria" pitchFamily="34" charset="-122"/>
                <a:cs typeface="Cambria" pitchFamily="34" charset="-120"/>
              </a:rPr>
              <a:t>1,464</a:t>
            </a:r>
            <a:endParaRPr lang="en-US" sz="3000" dirty="0"/>
          </a:p>
        </p:txBody>
      </p:sp>
      <p:sp>
        <p:nvSpPr>
          <p:cNvPr id="8" name="Stat label 1"/>
          <p:cNvSpPr txBox="1"/>
          <p:nvPr/>
        </p:nvSpPr>
        <p:spPr>
          <a:xfrm>
            <a:off x="5943600" y="1298448"/>
            <a:ext cx="2468880" cy="457200"/>
          </a:xfrm>
          <a:prstGeom prst="rect">
            <a:avLst/>
          </a:prstGeom>
          <a:noFill/>
          <a:ln/>
        </p:spPr>
        <p:txBody>
          <a:bodyPr wrap="square" lIns="0" tIns="0" rIns="0" bIns="0" rtlCol="0" anchor="t"/>
          <a:lstStyle/>
          <a:p>
            <a:pPr indent="0" marL="0">
              <a:buNone/>
            </a:pPr>
            <a:r>
              <a:rPr lang="en-US" sz="1200" dirty="0">
                <a:solidFill>
                  <a:schemeClr val="bg2"/>
                </a:solidFill>
              </a:rPr>
              <a:t>students with education spending (ed_total &gt; 0)</a:t>
            </a:r>
            <a:endParaRPr lang="en-US" sz="1200" dirty="0"/>
          </a:p>
        </p:txBody>
      </p:sp>
      <p:sp>
        <p:nvSpPr>
          <p:cNvPr id="9" name="Stat card 2"/>
          <p:cNvSpPr/>
          <p:nvPr/>
        </p:nvSpPr>
        <p:spPr>
          <a:xfrm>
            <a:off x="5760720" y="2011680"/>
            <a:ext cx="2834640" cy="1188720"/>
          </a:xfrm>
          <a:prstGeom prst="roundRect">
            <a:avLst>
              <a:gd name="adj" fmla="val 9231"/>
            </a:avLst>
          </a:prstGeom>
          <a:solidFill>
            <a:schemeClr val="accent1"/>
          </a:solidFill>
          <a:ln/>
        </p:spPr>
      </p:sp>
      <p:sp>
        <p:nvSpPr>
          <p:cNvPr id="10" name="Stat value 2"/>
          <p:cNvSpPr txBox="1"/>
          <p:nvPr/>
        </p:nvSpPr>
        <p:spPr>
          <a:xfrm>
            <a:off x="5943600" y="2103120"/>
            <a:ext cx="2468880" cy="548640"/>
          </a:xfrm>
          <a:prstGeom prst="rect">
            <a:avLst/>
          </a:prstGeom>
          <a:noFill/>
          <a:ln/>
        </p:spPr>
        <p:txBody>
          <a:bodyPr wrap="square" lIns="0" tIns="0" rIns="0" bIns="0" rtlCol="0" anchor="ctr"/>
          <a:lstStyle/>
          <a:p>
            <a:pPr indent="0" marL="0">
              <a:buNone/>
            </a:pPr>
            <a:r>
              <a:rPr lang="en-US" sz="3000" b="1" dirty="0">
                <a:solidFill>
                  <a:schemeClr val="bg1"/>
                </a:solidFill>
                <a:latin typeface="Cambria" pitchFamily="34" charset="0"/>
                <a:ea typeface="Cambria" pitchFamily="34" charset="-122"/>
                <a:cs typeface="Cambria" pitchFamily="34" charset="-120"/>
              </a:rPr>
              <a:t>5,677</a:t>
            </a:r>
            <a:endParaRPr lang="en-US" sz="3000" dirty="0"/>
          </a:p>
        </p:txBody>
      </p:sp>
      <p:sp>
        <p:nvSpPr>
          <p:cNvPr id="11" name="Stat label 2"/>
          <p:cNvSpPr txBox="1"/>
          <p:nvPr/>
        </p:nvSpPr>
        <p:spPr>
          <a:xfrm>
            <a:off x="5943600" y="2670048"/>
            <a:ext cx="2468880" cy="457200"/>
          </a:xfrm>
          <a:prstGeom prst="rect">
            <a:avLst/>
          </a:prstGeom>
          <a:noFill/>
          <a:ln/>
        </p:spPr>
        <p:txBody>
          <a:bodyPr wrap="square" lIns="0" tIns="0" rIns="0" bIns="0" rtlCol="0" anchor="t"/>
          <a:lstStyle/>
          <a:p>
            <a:pPr indent="0" marL="0">
              <a:buNone/>
            </a:pPr>
            <a:r>
              <a:rPr lang="en-US" sz="1200" dirty="0">
                <a:solidFill>
                  <a:schemeClr val="bg2"/>
                </a:solidFill>
              </a:rPr>
              <a:t>persons aged 10–64 with literacy recorded</a:t>
            </a:r>
            <a:endParaRPr lang="en-US" sz="1200" dirty="0"/>
          </a:p>
        </p:txBody>
      </p:sp>
      <p:sp>
        <p:nvSpPr>
          <p:cNvPr id="12" name="Stat card 3"/>
          <p:cNvSpPr/>
          <p:nvPr/>
        </p:nvSpPr>
        <p:spPr>
          <a:xfrm>
            <a:off x="5760720" y="3383280"/>
            <a:ext cx="2834640" cy="1188720"/>
          </a:xfrm>
          <a:prstGeom prst="roundRect">
            <a:avLst>
              <a:gd name="adj" fmla="val 9231"/>
            </a:avLst>
          </a:prstGeom>
          <a:solidFill>
            <a:schemeClr val="accent1"/>
          </a:solidFill>
          <a:ln/>
        </p:spPr>
      </p:sp>
      <p:sp>
        <p:nvSpPr>
          <p:cNvPr id="13" name="Stat value 3"/>
          <p:cNvSpPr txBox="1"/>
          <p:nvPr/>
        </p:nvSpPr>
        <p:spPr>
          <a:xfrm>
            <a:off x="5943600" y="3474720"/>
            <a:ext cx="2468880" cy="548640"/>
          </a:xfrm>
          <a:prstGeom prst="rect">
            <a:avLst/>
          </a:prstGeom>
          <a:noFill/>
          <a:ln/>
        </p:spPr>
        <p:txBody>
          <a:bodyPr wrap="square" lIns="0" tIns="0" rIns="0" bIns="0" rtlCol="0" anchor="ctr"/>
          <a:lstStyle/>
          <a:p>
            <a:pPr indent="0" marL="0">
              <a:buNone/>
            </a:pPr>
            <a:r>
              <a:rPr lang="en-US" sz="3000" b="1" dirty="0">
                <a:solidFill>
                  <a:schemeClr val="bg1"/>
                </a:solidFill>
                <a:latin typeface="Cambria" pitchFamily="34" charset="0"/>
                <a:ea typeface="Cambria" pitchFamily="34" charset="-122"/>
                <a:cs typeface="Cambria" pitchFamily="34" charset="-120"/>
              </a:rPr>
              <a:t>Rs 3,500</a:t>
            </a:r>
            <a:endParaRPr lang="en-US" sz="3000" dirty="0"/>
          </a:p>
        </p:txBody>
      </p:sp>
      <p:sp>
        <p:nvSpPr>
          <p:cNvPr id="14" name="Stat label 3"/>
          <p:cNvSpPr txBox="1"/>
          <p:nvPr/>
        </p:nvSpPr>
        <p:spPr>
          <a:xfrm>
            <a:off x="5943600" y="4041648"/>
            <a:ext cx="2468880" cy="457200"/>
          </a:xfrm>
          <a:prstGeom prst="rect">
            <a:avLst/>
          </a:prstGeom>
          <a:noFill/>
          <a:ln/>
        </p:spPr>
        <p:txBody>
          <a:bodyPr wrap="square" lIns="0" tIns="0" rIns="0" bIns="0" rtlCol="0" anchor="t"/>
          <a:lstStyle/>
          <a:p>
            <a:pPr indent="0" marL="0">
              <a:buNone/>
            </a:pPr>
            <a:r>
              <a:rPr lang="en-US" sz="1200" dirty="0">
                <a:solidFill>
                  <a:schemeClr val="bg2"/>
                </a:solidFill>
              </a:rPr>
              <a:t>weighted median annual spend per student</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868680"/>
          </a:xfrm>
          <a:prstGeom prst="rect">
            <a:avLst/>
          </a:prstGeom>
          <a:noFill/>
          <a:ln/>
        </p:spPr>
        <p:txBody>
          <a:bodyPr wrap="square" lIns="0" tIns="0" rIns="0" bIns="0" rtlCol="0" anchor="ctr"/>
          <a:lstStyle/>
          <a:p>
            <a:pPr algn="l" indent="0" marL="0">
              <a:buNone/>
            </a:pPr>
            <a:r>
              <a:rPr lang="en-US" sz="2600" b="1" dirty="0">
                <a:solidFill>
                  <a:schemeClr val="tx2"/>
                </a:solidFill>
              </a:rPr>
              <a:t>The makeover: from an unreadable cloud of dots to a clear comparison</a:t>
            </a:r>
            <a:endParaRPr lang="en-US" sz="2600" dirty="0"/>
          </a:p>
        </p:txBody>
      </p:sp>
      <p:sp>
        <p:nvSpPr>
          <p:cNvPr id="3" name="Before label"/>
          <p:cNvSpPr txBox="1"/>
          <p:nvPr/>
        </p:nvSpPr>
        <p:spPr>
          <a:xfrm>
            <a:off x="948259" y="1188720"/>
            <a:ext cx="2697480" cy="228600"/>
          </a:xfrm>
          <a:prstGeom prst="rect">
            <a:avLst/>
          </a:prstGeom>
          <a:noFill/>
          <a:ln/>
        </p:spPr>
        <p:txBody>
          <a:bodyPr wrap="square" lIns="0" tIns="0" rIns="0" bIns="0" rtlCol="0" anchor="ctr"/>
          <a:lstStyle/>
          <a:p>
            <a:pPr indent="0" marL="0">
              <a:buNone/>
            </a:pPr>
            <a:r>
              <a:rPr lang="en-US" sz="1200" b="1" dirty="0">
                <a:solidFill>
                  <a:schemeClr val="accent5"/>
                </a:solidFill>
              </a:rPr>
              <a:t>BEFORE  ·  R default</a:t>
            </a:r>
            <a:endParaRPr lang="en-US" sz="1200" dirty="0"/>
          </a:p>
        </p:txBody>
      </p:sp>
      <p:sp>
        <p:nvSpPr>
          <p:cNvPr id="4" name="After label"/>
          <p:cNvSpPr txBox="1"/>
          <p:nvPr/>
        </p:nvSpPr>
        <p:spPr>
          <a:xfrm>
            <a:off x="4011499" y="1188720"/>
            <a:ext cx="4184242" cy="228600"/>
          </a:xfrm>
          <a:prstGeom prst="rect">
            <a:avLst/>
          </a:prstGeom>
          <a:noFill/>
          <a:ln/>
        </p:spPr>
        <p:txBody>
          <a:bodyPr wrap="square" lIns="0" tIns="0" rIns="0" bIns="0" rtlCol="0" anchor="ctr"/>
          <a:lstStyle/>
          <a:p>
            <a:pPr indent="0" marL="0">
              <a:buNone/>
            </a:pPr>
            <a:r>
              <a:rPr lang="en-US" sz="1200" b="1" dirty="0">
                <a:solidFill>
                  <a:schemeClr val="accent2"/>
                </a:solidFill>
              </a:rPr>
              <a:t>AFTER  ·  redesign</a:t>
            </a:r>
            <a:endParaRPr lang="en-US" sz="1200" dirty="0"/>
          </a:p>
        </p:txBody>
      </p:sp>
      <p:pic>
        <p:nvPicPr>
          <p:cNvPr id="5" name="Image 0" descr="Default ggplot2 scatterplot of literate (0 or 1) against age: two rows of overlapping black dots">    </p:cNvPr>
          <p:cNvPicPr>
            <a:picLocks noChangeAspect="1"/>
          </p:cNvPicPr>
          <p:nvPr/>
        </p:nvPicPr>
        <p:blipFill>
          <a:blip r:embed="rId1"/>
          <a:stretch>
            <a:fillRect/>
          </a:stretch>
        </p:blipFill>
        <p:spPr>
          <a:xfrm>
            <a:off x="948259" y="1463040"/>
            <a:ext cx="2697480" cy="2697480"/>
          </a:xfrm>
          <a:prstGeom prst="rect">
            <a:avLst/>
          </a:prstGeom>
        </p:spPr>
      </p:pic>
      <p:pic>
        <p:nvPicPr>
          <p:cNvPr id="6" name="Image 1" descr="Redesigned line chart of weighted literacy rate by age band for women and men in rural Balochistan">    </p:cNvPr>
          <p:cNvPicPr>
            <a:picLocks noChangeAspect="1"/>
          </p:cNvPicPr>
          <p:nvPr/>
        </p:nvPicPr>
        <p:blipFill>
          <a:blip r:embed="rId2"/>
          <a:stretch>
            <a:fillRect/>
          </a:stretch>
        </p:blipFill>
        <p:spPr>
          <a:xfrm>
            <a:off x="4011499" y="1463040"/>
            <a:ext cx="4184242" cy="2697480"/>
          </a:xfrm>
          <a:prstGeom prst="rect">
            <a:avLst/>
          </a:prstGeom>
        </p:spPr>
      </p:pic>
      <p:sp>
        <p:nvSpPr>
          <p:cNvPr id="7" name="Before caption"/>
          <p:cNvSpPr txBox="1"/>
          <p:nvPr/>
        </p:nvSpPr>
        <p:spPr>
          <a:xfrm>
            <a:off x="948259" y="4233672"/>
            <a:ext cx="2697480" cy="457200"/>
          </a:xfrm>
          <a:prstGeom prst="rect">
            <a:avLst/>
          </a:prstGeom>
          <a:noFill/>
          <a:ln/>
        </p:spPr>
        <p:txBody>
          <a:bodyPr wrap="square" lIns="0" tIns="0" rIns="0" bIns="0" rtlCol="0" anchor="t"/>
          <a:lstStyle/>
          <a:p>
            <a:pPr indent="0" marL="0">
              <a:buNone/>
            </a:pPr>
            <a:r>
              <a:rPr lang="en-US" sz="1200" dirty="0">
                <a:solidFill>
                  <a:schemeClr val="tx1"/>
                </a:solidFill>
              </a:rPr>
              <a:t>Individual 0/1 points overplot; no sex comparison is possible.</a:t>
            </a:r>
            <a:endParaRPr lang="en-US" sz="1200" dirty="0"/>
          </a:p>
        </p:txBody>
      </p:sp>
      <p:sp>
        <p:nvSpPr>
          <p:cNvPr id="8" name="After caption"/>
          <p:cNvSpPr txBox="1"/>
          <p:nvPr/>
        </p:nvSpPr>
        <p:spPr>
          <a:xfrm>
            <a:off x="4011499" y="4233672"/>
            <a:ext cx="4184242" cy="457200"/>
          </a:xfrm>
          <a:prstGeom prst="rect">
            <a:avLst/>
          </a:prstGeom>
          <a:noFill/>
          <a:ln/>
        </p:spPr>
        <p:txBody>
          <a:bodyPr wrap="square" lIns="0" tIns="0" rIns="0" bIns="0" rtlCol="0" anchor="t"/>
          <a:lstStyle/>
          <a:p>
            <a:pPr indent="0" marL="0">
              <a:buNone/>
            </a:pPr>
            <a:r>
              <a:rPr lang="en-US" sz="1200" dirty="0">
                <a:solidFill>
                  <a:schemeClr val="tx1"/>
                </a:solidFill>
              </a:rPr>
              <a:t>Conditional means by sex, five-year bands, direct labels, gap annotated.</a:t>
            </a:r>
            <a:endParaRPr lang="en-US" sz="1200" dirty="0"/>
          </a:p>
        </p:txBody>
      </p:sp>
      <p:sp>
        <p:nvSpPr>
          <p:cNvPr id="9" name="Trade-off note"/>
          <p:cNvSpPr txBox="1"/>
          <p:nvPr/>
        </p:nvSpPr>
        <p:spPr>
          <a:xfrm>
            <a:off x="457200" y="4754880"/>
            <a:ext cx="7863840" cy="228600"/>
          </a:xfrm>
          <a:prstGeom prst="rect">
            <a:avLst/>
          </a:prstGeom>
          <a:noFill/>
          <a:ln/>
        </p:spPr>
        <p:txBody>
          <a:bodyPr wrap="square" lIns="0" tIns="0" rIns="0" bIns="0" rtlCol="0" anchor="ctr"/>
          <a:lstStyle/>
          <a:p>
            <a:pPr indent="0" marL="0">
              <a:buNone/>
            </a:pPr>
            <a:r>
              <a:rPr lang="en-US" sz="1000" i="1" dirty="0">
                <a:solidFill>
                  <a:schemeClr val="accent5"/>
                </a:solidFill>
              </a:rPr>
              <a:t>Trade-off: the redesign no longer shows every individual observation.</a:t>
            </a:r>
            <a:endParaRPr lang="en-US" sz="1000" dirty="0"/>
          </a:p>
        </p:txBody>
      </p:sp>
      <p:sp>
        <p:nvSpPr>
          <p:cNvPr id="25" name="Slide Number Placeholder 0"/>
          <p:cNvSpPr>
            <a:spLocks noGrp="1"/>
          </p:cNvSpPr>
          <p:nvPr>
            <p:ph type="sldNum" sz="quarter" idx="4294967295"/>
          </p:nvPr>
        </p:nvSpPr>
        <p:spPr>
          <a:xfrm>
            <a:off x="8412480" y="4754880"/>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868680"/>
          </a:xfrm>
          <a:prstGeom prst="rect">
            <a:avLst/>
          </a:prstGeom>
          <a:noFill/>
          <a:ln/>
        </p:spPr>
        <p:txBody>
          <a:bodyPr wrap="square" lIns="0" tIns="0" rIns="0" bIns="0" rtlCol="0" anchor="ctr"/>
          <a:lstStyle/>
          <a:p>
            <a:pPr algn="l" indent="0" marL="0">
              <a:buNone/>
            </a:pPr>
            <a:r>
              <a:rPr lang="en-US" sz="2600" b="1" dirty="0">
                <a:solidFill>
                  <a:schemeClr val="tx2"/>
                </a:solidFill>
              </a:rPr>
              <a:t>Spending per student varies widely: the middle 80% fall between Rs 600 and Rs 18,700</a:t>
            </a:r>
            <a:endParaRPr lang="en-US" sz="2600" dirty="0"/>
          </a:p>
        </p:txBody>
      </p:sp>
      <p:pic>
        <p:nvPicPr>
          <p:cNvPr id="3" name="Image 0" descr="Weighted histogram of annual education spending per student on a log10 scale, with dashed lines at the median Rs 3,500 and 90th percentile Rs 18,700">    </p:cNvPr>
          <p:cNvPicPr>
            <a:picLocks noChangeAspect="1"/>
          </p:cNvPicPr>
          <p:nvPr/>
        </p:nvPicPr>
        <p:blipFill>
          <a:blip r:embed="rId1"/>
          <a:stretch>
            <a:fillRect/>
          </a:stretch>
        </p:blipFill>
        <p:spPr>
          <a:xfrm>
            <a:off x="457200" y="1371600"/>
            <a:ext cx="4822516" cy="3108960"/>
          </a:xfrm>
          <a:prstGeom prst="rect">
            <a:avLst/>
          </a:prstGeom>
        </p:spPr>
      </p:pic>
      <p:sp>
        <p:nvSpPr>
          <p:cNvPr id="4" name="Fact card 1"/>
          <p:cNvSpPr/>
          <p:nvPr/>
        </p:nvSpPr>
        <p:spPr>
          <a:xfrm>
            <a:off x="5599756" y="1371600"/>
            <a:ext cx="3087044" cy="960120"/>
          </a:xfrm>
          <a:prstGeom prst="roundRect">
            <a:avLst>
              <a:gd name="adj" fmla="val 9524"/>
            </a:avLst>
          </a:prstGeom>
          <a:solidFill>
            <a:schemeClr val="bg2"/>
          </a:solidFill>
          <a:ln/>
        </p:spPr>
      </p:sp>
      <p:sp>
        <p:nvSpPr>
          <p:cNvPr id="5" name="Fact value 1"/>
          <p:cNvSpPr txBox="1"/>
          <p:nvPr/>
        </p:nvSpPr>
        <p:spPr>
          <a:xfrm>
            <a:off x="5736916" y="1444752"/>
            <a:ext cx="1325880" cy="822960"/>
          </a:xfrm>
          <a:prstGeom prst="rect">
            <a:avLst/>
          </a:prstGeom>
          <a:noFill/>
          <a:ln/>
        </p:spPr>
        <p:txBody>
          <a:bodyPr wrap="square" lIns="0" tIns="0" rIns="0" bIns="0" rtlCol="0" anchor="ctr"/>
          <a:lstStyle/>
          <a:p>
            <a:pPr indent="0" marL="0">
              <a:buNone/>
            </a:pPr>
            <a:r>
              <a:rPr lang="en-US" sz="2400" b="1" dirty="0">
                <a:solidFill>
                  <a:schemeClr val="accent2"/>
                </a:solidFill>
                <a:latin typeface="Cambria" pitchFamily="34" charset="0"/>
                <a:ea typeface="Cambria" pitchFamily="34" charset="-122"/>
                <a:cs typeface="Cambria" pitchFamily="34" charset="-120"/>
              </a:rPr>
              <a:t>Rs 3,500</a:t>
            </a:r>
            <a:endParaRPr lang="en-US" sz="2400" dirty="0"/>
          </a:p>
        </p:txBody>
      </p:sp>
      <p:sp>
        <p:nvSpPr>
          <p:cNvPr id="6" name="Fact label 1"/>
          <p:cNvSpPr txBox="1"/>
          <p:nvPr/>
        </p:nvSpPr>
        <p:spPr>
          <a:xfrm>
            <a:off x="7108516" y="1444752"/>
            <a:ext cx="1486844" cy="822960"/>
          </a:xfrm>
          <a:prstGeom prst="rect">
            <a:avLst/>
          </a:prstGeom>
          <a:noFill/>
          <a:ln/>
        </p:spPr>
        <p:txBody>
          <a:bodyPr wrap="square" lIns="0" tIns="0" rIns="0" bIns="0" rtlCol="0" anchor="ctr"/>
          <a:lstStyle/>
          <a:p>
            <a:pPr indent="0" marL="0">
              <a:buNone/>
            </a:pPr>
            <a:r>
              <a:rPr lang="en-US" sz="1200" b="1" dirty="0">
                <a:solidFill>
                  <a:schemeClr val="tx2"/>
                </a:solidFill>
              </a:rPr>
              <a:t>weighted median</a:t>
            </a:r>
            <a:endParaRPr lang="en-US" sz="1200" dirty="0"/>
          </a:p>
          <a:p>
            <a:pPr indent="0" marL="0">
              <a:buNone/>
            </a:pPr>
            <a:r>
              <a:rPr lang="en-US" sz="1200" dirty="0">
                <a:solidFill>
                  <a:schemeClr val="tx1"/>
                </a:solidFill>
              </a:rPr>
              <a:t>unweighted: Rs 3,000</a:t>
            </a:r>
            <a:endParaRPr lang="en-US" sz="1200" dirty="0"/>
          </a:p>
        </p:txBody>
      </p:sp>
      <p:sp>
        <p:nvSpPr>
          <p:cNvPr id="7" name="Fact card 2"/>
          <p:cNvSpPr/>
          <p:nvPr/>
        </p:nvSpPr>
        <p:spPr>
          <a:xfrm>
            <a:off x="5599756" y="2441448"/>
            <a:ext cx="3087044" cy="960120"/>
          </a:xfrm>
          <a:prstGeom prst="roundRect">
            <a:avLst>
              <a:gd name="adj" fmla="val 9524"/>
            </a:avLst>
          </a:prstGeom>
          <a:solidFill>
            <a:schemeClr val="bg2"/>
          </a:solidFill>
          <a:ln/>
        </p:spPr>
      </p:sp>
      <p:sp>
        <p:nvSpPr>
          <p:cNvPr id="8" name="Fact value 2"/>
          <p:cNvSpPr txBox="1"/>
          <p:nvPr/>
        </p:nvSpPr>
        <p:spPr>
          <a:xfrm>
            <a:off x="5736916" y="2514600"/>
            <a:ext cx="1325880" cy="822960"/>
          </a:xfrm>
          <a:prstGeom prst="rect">
            <a:avLst/>
          </a:prstGeom>
          <a:noFill/>
          <a:ln/>
        </p:spPr>
        <p:txBody>
          <a:bodyPr wrap="square" lIns="0" tIns="0" rIns="0" bIns="0" rtlCol="0" anchor="ctr"/>
          <a:lstStyle/>
          <a:p>
            <a:pPr indent="0" marL="0">
              <a:buNone/>
            </a:pPr>
            <a:r>
              <a:rPr lang="en-US" sz="2400" b="1" dirty="0">
                <a:solidFill>
                  <a:schemeClr val="accent2"/>
                </a:solidFill>
                <a:latin typeface="Cambria" pitchFamily="34" charset="0"/>
                <a:ea typeface="Cambria" pitchFamily="34" charset="-122"/>
                <a:cs typeface="Cambria" pitchFamily="34" charset="-120"/>
              </a:rPr>
              <a:t>31.17×</a:t>
            </a:r>
            <a:endParaRPr lang="en-US" sz="2400" dirty="0"/>
          </a:p>
        </p:txBody>
      </p:sp>
      <p:sp>
        <p:nvSpPr>
          <p:cNvPr id="9" name="Fact label 2"/>
          <p:cNvSpPr txBox="1"/>
          <p:nvPr/>
        </p:nvSpPr>
        <p:spPr>
          <a:xfrm>
            <a:off x="7108516" y="2514600"/>
            <a:ext cx="1486844" cy="822960"/>
          </a:xfrm>
          <a:prstGeom prst="rect">
            <a:avLst/>
          </a:prstGeom>
          <a:noFill/>
          <a:ln/>
        </p:spPr>
        <p:txBody>
          <a:bodyPr wrap="square" lIns="0" tIns="0" rIns="0" bIns="0" rtlCol="0" anchor="ctr"/>
          <a:lstStyle/>
          <a:p>
            <a:pPr indent="0" marL="0">
              <a:buNone/>
            </a:pPr>
            <a:r>
              <a:rPr lang="en-US" sz="1200" b="1" dirty="0">
                <a:solidFill>
                  <a:schemeClr val="tx2"/>
                </a:solidFill>
              </a:rPr>
              <a:t>90th ÷ 10th percentile</a:t>
            </a:r>
            <a:endParaRPr lang="en-US" sz="1200" dirty="0"/>
          </a:p>
          <a:p>
            <a:pPr indent="0" marL="0">
              <a:buNone/>
            </a:pPr>
            <a:r>
              <a:rPr lang="en-US" sz="1200" dirty="0">
                <a:solidFill>
                  <a:schemeClr val="tx1"/>
                </a:solidFill>
              </a:rPr>
              <a:t>Rs 18,700 vs Rs 600</a:t>
            </a:r>
            <a:endParaRPr lang="en-US" sz="1200" dirty="0"/>
          </a:p>
        </p:txBody>
      </p:sp>
      <p:sp>
        <p:nvSpPr>
          <p:cNvPr id="10" name="Fact card 3"/>
          <p:cNvSpPr/>
          <p:nvPr/>
        </p:nvSpPr>
        <p:spPr>
          <a:xfrm>
            <a:off x="5599756" y="3511296"/>
            <a:ext cx="3087044" cy="960120"/>
          </a:xfrm>
          <a:prstGeom prst="roundRect">
            <a:avLst>
              <a:gd name="adj" fmla="val 9524"/>
            </a:avLst>
          </a:prstGeom>
          <a:solidFill>
            <a:schemeClr val="bg2"/>
          </a:solidFill>
          <a:ln/>
        </p:spPr>
      </p:sp>
      <p:sp>
        <p:nvSpPr>
          <p:cNvPr id="11" name="Fact value 3"/>
          <p:cNvSpPr txBox="1"/>
          <p:nvPr/>
        </p:nvSpPr>
        <p:spPr>
          <a:xfrm>
            <a:off x="5736916" y="3584448"/>
            <a:ext cx="1325880" cy="822960"/>
          </a:xfrm>
          <a:prstGeom prst="rect">
            <a:avLst/>
          </a:prstGeom>
          <a:noFill/>
          <a:ln/>
        </p:spPr>
        <p:txBody>
          <a:bodyPr wrap="square" lIns="0" tIns="0" rIns="0" bIns="0" rtlCol="0" anchor="ctr"/>
          <a:lstStyle/>
          <a:p>
            <a:pPr indent="0" marL="0">
              <a:buNone/>
            </a:pPr>
            <a:r>
              <a:rPr lang="en-US" sz="2400" b="1" dirty="0">
                <a:solidFill>
                  <a:schemeClr val="accent2"/>
                </a:solidFill>
                <a:latin typeface="Cambria" pitchFamily="34" charset="0"/>
                <a:ea typeface="Cambria" pitchFamily="34" charset="-122"/>
                <a:cs typeface="Cambria" pitchFamily="34" charset="-120"/>
              </a:rPr>
              <a:t>1,464</a:t>
            </a:r>
            <a:endParaRPr lang="en-US" sz="2400" dirty="0"/>
          </a:p>
        </p:txBody>
      </p:sp>
      <p:sp>
        <p:nvSpPr>
          <p:cNvPr id="12" name="Fact label 3"/>
          <p:cNvSpPr txBox="1"/>
          <p:nvPr/>
        </p:nvSpPr>
        <p:spPr>
          <a:xfrm>
            <a:off x="7108516" y="3584448"/>
            <a:ext cx="1486844" cy="822960"/>
          </a:xfrm>
          <a:prstGeom prst="rect">
            <a:avLst/>
          </a:prstGeom>
          <a:noFill/>
          <a:ln/>
        </p:spPr>
        <p:txBody>
          <a:bodyPr wrap="square" lIns="0" tIns="0" rIns="0" bIns="0" rtlCol="0" anchor="ctr"/>
          <a:lstStyle/>
          <a:p>
            <a:pPr indent="0" marL="0">
              <a:buNone/>
            </a:pPr>
            <a:r>
              <a:rPr lang="en-US" sz="1200" b="1" dirty="0">
                <a:solidFill>
                  <a:schemeClr val="tx2"/>
                </a:solidFill>
              </a:rPr>
              <a:t>students</a:t>
            </a:r>
            <a:endParaRPr lang="en-US" sz="1200" dirty="0"/>
          </a:p>
          <a:p>
            <a:pPr indent="0" marL="0">
              <a:buNone/>
            </a:pPr>
            <a:r>
              <a:rPr lang="en-US" sz="1200" dirty="0">
                <a:solidFill>
                  <a:schemeClr val="tx1"/>
                </a:solidFill>
              </a:rPr>
              <a:t>1 excluded from histogram</a:t>
            </a:r>
            <a:endParaRPr lang="en-US" sz="1200" dirty="0"/>
          </a:p>
        </p:txBody>
      </p:sp>
      <p:sp>
        <p:nvSpPr>
          <p:cNvPr id="13" name="Footnote"/>
          <p:cNvSpPr txBox="1"/>
          <p:nvPr/>
        </p:nvSpPr>
        <p:spPr>
          <a:xfrm>
            <a:off x="457200" y="4553712"/>
            <a:ext cx="7680960" cy="228600"/>
          </a:xfrm>
          <a:prstGeom prst="rect">
            <a:avLst/>
          </a:prstGeom>
          <a:noFill/>
          <a:ln/>
        </p:spPr>
        <p:txBody>
          <a:bodyPr wrap="square" lIns="0" tIns="0" rIns="0" bIns="0" rtlCol="0" anchor="ctr"/>
          <a:lstStyle/>
          <a:p>
            <a:pPr indent="0" marL="0">
              <a:buNone/>
            </a:pPr>
            <a:r>
              <a:rPr lang="en-US" sz="1000" dirty="0">
                <a:solidFill>
                  <a:schemeClr val="accent5"/>
                </a:solidFill>
              </a:rPr>
              <a:t>Weighted vs unweighted median differ because weights count how many households each student represents.</a:t>
            </a:r>
            <a:endParaRPr lang="en-US" sz="1000" dirty="0"/>
          </a:p>
        </p:txBody>
      </p:sp>
      <p:sp>
        <p:nvSpPr>
          <p:cNvPr id="25" name="Slide Number Placeholder 0"/>
          <p:cNvSpPr>
            <a:spLocks noGrp="1"/>
          </p:cNvSpPr>
          <p:nvPr>
            <p:ph type="sldNum" sz="quarter" idx="4294967295"/>
          </p:nvPr>
        </p:nvSpPr>
        <p:spPr>
          <a:xfrm>
            <a:off x="8412480" y="4754880"/>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868680"/>
          </a:xfrm>
          <a:prstGeom prst="rect">
            <a:avLst/>
          </a:prstGeom>
          <a:noFill/>
          <a:ln/>
        </p:spPr>
        <p:txBody>
          <a:bodyPr wrap="square" lIns="0" tIns="0" rIns="0" bIns="0" rtlCol="0" anchor="ctr"/>
          <a:lstStyle/>
          <a:p>
            <a:pPr algn="l" indent="0" marL="0">
              <a:buNone/>
            </a:pPr>
            <a:r>
              <a:rPr lang="en-US" sz="2600" b="1" dirty="0">
                <a:solidFill>
                  <a:schemeClr val="tx2"/>
                </a:solidFill>
              </a:rPr>
              <a:t>Most important finding: women trail men in every age band, by up to 47.9 points at ages 40–44</a:t>
            </a:r>
            <a:endParaRPr lang="en-US" sz="2600" dirty="0"/>
          </a:p>
        </p:txBody>
      </p:sp>
      <p:sp>
        <p:nvSpPr>
          <p:cNvPr id="3" name="Chart heading"/>
          <p:cNvSpPr txBox="1"/>
          <p:nvPr/>
        </p:nvSpPr>
        <p:spPr>
          <a:xfrm>
            <a:off x="457200" y="1234440"/>
            <a:ext cx="5120640" cy="274320"/>
          </a:xfrm>
          <a:prstGeom prst="rect">
            <a:avLst/>
          </a:prstGeom>
          <a:noFill/>
          <a:ln/>
        </p:spPr>
        <p:txBody>
          <a:bodyPr wrap="square" lIns="0" tIns="0" rIns="0" bIns="0" rtlCol="0" anchor="ctr"/>
          <a:lstStyle/>
          <a:p>
            <a:pPr indent="0" marL="0">
              <a:buNone/>
            </a:pPr>
            <a:r>
              <a:rPr lang="en-US" sz="1200" b="1" dirty="0">
                <a:solidFill>
                  <a:schemeClr val="tx2"/>
                </a:solidFill>
              </a:rPr>
              <a:t>Literacy gap, men minus women (percentage points)</a:t>
            </a:r>
            <a:endParaRPr lang="en-US" sz="1200" dirty="0"/>
          </a:p>
        </p:txBody>
      </p:sp>
      <p:graphicFrame>
        <p:nvGraphicFramePr>
          <p:cNvPr id="4" name="Chart 0" descr=""/>
          <p:cNvGraphicFramePr/>
          <p:nvPr/>
        </p:nvGraphicFramePr>
        <p:xfrm>
          <a:off x="365760" y="1508760"/>
          <a:ext cx="5303520" cy="3063240"/>
        </p:xfrm>
        <a:graphic xmlns:a="http://schemas.openxmlformats.org/drawingml/2006/main">
          <a:graphicData uri="http://schemas.openxmlformats.org/drawingml/2006/chart">
            <c:chart xmlns:c="http://schemas.openxmlformats.org/drawingml/2006/chart" r:id="rId1"/>
          </a:graphicData>
        </a:graphic>
      </p:graphicFrame>
      <p:sp>
        <p:nvSpPr>
          <p:cNvPr id="5" name="Compare card 1"/>
          <p:cNvSpPr/>
          <p:nvPr/>
        </p:nvSpPr>
        <p:spPr>
          <a:xfrm>
            <a:off x="5943600" y="1280160"/>
            <a:ext cx="2743200" cy="1234440"/>
          </a:xfrm>
          <a:prstGeom prst="roundRect">
            <a:avLst>
              <a:gd name="adj" fmla="val 7407"/>
            </a:avLst>
          </a:prstGeom>
          <a:solidFill>
            <a:schemeClr val="bg2"/>
          </a:solidFill>
          <a:ln/>
        </p:spPr>
      </p:sp>
      <p:sp>
        <p:nvSpPr>
          <p:cNvPr id="6" name="Compare label 1"/>
          <p:cNvSpPr txBox="1"/>
          <p:nvPr/>
        </p:nvSpPr>
        <p:spPr>
          <a:xfrm>
            <a:off x="6126480" y="1371600"/>
            <a:ext cx="2377440" cy="274320"/>
          </a:xfrm>
          <a:prstGeom prst="rect">
            <a:avLst/>
          </a:prstGeom>
          <a:noFill/>
          <a:ln/>
        </p:spPr>
        <p:txBody>
          <a:bodyPr wrap="square" lIns="0" tIns="0" rIns="0" bIns="0" rtlCol="0" anchor="ctr"/>
          <a:lstStyle/>
          <a:p>
            <a:pPr indent="0" marL="0">
              <a:buNone/>
            </a:pPr>
            <a:r>
              <a:rPr lang="en-US" sz="1400" b="1" dirty="0">
                <a:solidFill>
                  <a:schemeClr val="tx2"/>
                </a:solidFill>
              </a:rPr>
              <a:t>Ages 15–19</a:t>
            </a:r>
            <a:endParaRPr lang="en-US" sz="1400" dirty="0"/>
          </a:p>
        </p:txBody>
      </p:sp>
      <p:sp>
        <p:nvSpPr>
          <p:cNvPr id="7" name="Women value 1"/>
          <p:cNvSpPr txBox="1"/>
          <p:nvPr/>
        </p:nvSpPr>
        <p:spPr>
          <a:xfrm>
            <a:off x="6126480" y="1691640"/>
            <a:ext cx="1097280" cy="457200"/>
          </a:xfrm>
          <a:prstGeom prst="rect">
            <a:avLst/>
          </a:prstGeom>
          <a:noFill/>
          <a:ln/>
        </p:spPr>
        <p:txBody>
          <a:bodyPr wrap="square" lIns="0" tIns="0" rIns="0" bIns="0" rtlCol="0" anchor="ctr"/>
          <a:lstStyle/>
          <a:p>
            <a:pPr indent="0" marL="0">
              <a:buNone/>
            </a:pPr>
            <a:r>
              <a:rPr lang="en-US" sz="2800" b="1" dirty="0">
                <a:solidFill>
                  <a:schemeClr val="accent2"/>
                </a:solidFill>
                <a:latin typeface="Cambria" pitchFamily="34" charset="0"/>
                <a:ea typeface="Cambria" pitchFamily="34" charset="-122"/>
                <a:cs typeface="Cambria" pitchFamily="34" charset="-120"/>
              </a:rPr>
              <a:t>33.3%</a:t>
            </a:r>
            <a:endParaRPr lang="en-US" sz="2800" dirty="0"/>
          </a:p>
        </p:txBody>
      </p:sp>
      <p:sp>
        <p:nvSpPr>
          <p:cNvPr id="8" name="Men value 1"/>
          <p:cNvSpPr txBox="1"/>
          <p:nvPr/>
        </p:nvSpPr>
        <p:spPr>
          <a:xfrm>
            <a:off x="7452360" y="1691640"/>
            <a:ext cx="1097280" cy="457200"/>
          </a:xfrm>
          <a:prstGeom prst="rect">
            <a:avLst/>
          </a:prstGeom>
          <a:noFill/>
          <a:ln/>
        </p:spPr>
        <p:txBody>
          <a:bodyPr wrap="square" lIns="0" tIns="0" rIns="0" bIns="0" rtlCol="0" anchor="ctr"/>
          <a:lstStyle/>
          <a:p>
            <a:pPr indent="0" marL="0">
              <a:buNone/>
            </a:pPr>
            <a:r>
              <a:rPr lang="en-US" sz="2800" b="1" dirty="0">
                <a:solidFill>
                  <a:schemeClr val="accent1"/>
                </a:solidFill>
                <a:latin typeface="Cambria" pitchFamily="34" charset="0"/>
                <a:ea typeface="Cambria" pitchFamily="34" charset="-122"/>
                <a:cs typeface="Cambria" pitchFamily="34" charset="-120"/>
              </a:rPr>
              <a:t>63.8%</a:t>
            </a:r>
            <a:endParaRPr lang="en-US" sz="2800" dirty="0"/>
          </a:p>
        </p:txBody>
      </p:sp>
      <p:sp>
        <p:nvSpPr>
          <p:cNvPr id="9" name="Women tag 1"/>
          <p:cNvSpPr txBox="1"/>
          <p:nvPr/>
        </p:nvSpPr>
        <p:spPr>
          <a:xfrm>
            <a:off x="6126480" y="2167128"/>
            <a:ext cx="1097280" cy="228600"/>
          </a:xfrm>
          <a:prstGeom prst="rect">
            <a:avLst/>
          </a:prstGeom>
          <a:noFill/>
          <a:ln/>
        </p:spPr>
        <p:txBody>
          <a:bodyPr wrap="square" lIns="0" tIns="0" rIns="0" bIns="0" rtlCol="0" anchor="ctr"/>
          <a:lstStyle/>
          <a:p>
            <a:pPr indent="0" marL="0">
              <a:buNone/>
            </a:pPr>
            <a:r>
              <a:rPr lang="en-US" sz="1200" dirty="0">
                <a:solidFill>
                  <a:schemeClr val="tx1"/>
                </a:solidFill>
              </a:rPr>
              <a:t>women</a:t>
            </a:r>
            <a:endParaRPr lang="en-US" sz="1200" dirty="0"/>
          </a:p>
        </p:txBody>
      </p:sp>
      <p:sp>
        <p:nvSpPr>
          <p:cNvPr id="10" name="Men tag 1"/>
          <p:cNvSpPr txBox="1"/>
          <p:nvPr/>
        </p:nvSpPr>
        <p:spPr>
          <a:xfrm>
            <a:off x="7452360" y="2167128"/>
            <a:ext cx="1097280" cy="228600"/>
          </a:xfrm>
          <a:prstGeom prst="rect">
            <a:avLst/>
          </a:prstGeom>
          <a:noFill/>
          <a:ln/>
        </p:spPr>
        <p:txBody>
          <a:bodyPr wrap="square" lIns="0" tIns="0" rIns="0" bIns="0" rtlCol="0" anchor="ctr"/>
          <a:lstStyle/>
          <a:p>
            <a:pPr indent="0" marL="0">
              <a:buNone/>
            </a:pPr>
            <a:r>
              <a:rPr lang="en-US" sz="1200" dirty="0">
                <a:solidFill>
                  <a:schemeClr val="tx1"/>
                </a:solidFill>
              </a:rPr>
              <a:t>men</a:t>
            </a:r>
            <a:endParaRPr lang="en-US" sz="1200" dirty="0"/>
          </a:p>
        </p:txBody>
      </p:sp>
      <p:sp>
        <p:nvSpPr>
          <p:cNvPr id="11" name="Compare card 2"/>
          <p:cNvSpPr/>
          <p:nvPr/>
        </p:nvSpPr>
        <p:spPr>
          <a:xfrm>
            <a:off x="5943600" y="2651760"/>
            <a:ext cx="2743200" cy="1234440"/>
          </a:xfrm>
          <a:prstGeom prst="roundRect">
            <a:avLst>
              <a:gd name="adj" fmla="val 7407"/>
            </a:avLst>
          </a:prstGeom>
          <a:solidFill>
            <a:schemeClr val="bg2"/>
          </a:solidFill>
          <a:ln/>
        </p:spPr>
      </p:sp>
      <p:sp>
        <p:nvSpPr>
          <p:cNvPr id="12" name="Compare label 2"/>
          <p:cNvSpPr txBox="1"/>
          <p:nvPr/>
        </p:nvSpPr>
        <p:spPr>
          <a:xfrm>
            <a:off x="6126480" y="2743200"/>
            <a:ext cx="2377440" cy="274320"/>
          </a:xfrm>
          <a:prstGeom prst="rect">
            <a:avLst/>
          </a:prstGeom>
          <a:noFill/>
          <a:ln/>
        </p:spPr>
        <p:txBody>
          <a:bodyPr wrap="square" lIns="0" tIns="0" rIns="0" bIns="0" rtlCol="0" anchor="ctr"/>
          <a:lstStyle/>
          <a:p>
            <a:pPr indent="0" marL="0">
              <a:buNone/>
            </a:pPr>
            <a:r>
              <a:rPr lang="en-US" sz="1400" b="1" dirty="0">
                <a:solidFill>
                  <a:schemeClr val="tx2"/>
                </a:solidFill>
              </a:rPr>
              <a:t>Ages 55–59</a:t>
            </a:r>
            <a:endParaRPr lang="en-US" sz="1400" dirty="0"/>
          </a:p>
        </p:txBody>
      </p:sp>
      <p:sp>
        <p:nvSpPr>
          <p:cNvPr id="13" name="Women value 2"/>
          <p:cNvSpPr txBox="1"/>
          <p:nvPr/>
        </p:nvSpPr>
        <p:spPr>
          <a:xfrm>
            <a:off x="6126480" y="3063240"/>
            <a:ext cx="1097280" cy="457200"/>
          </a:xfrm>
          <a:prstGeom prst="rect">
            <a:avLst/>
          </a:prstGeom>
          <a:noFill/>
          <a:ln/>
        </p:spPr>
        <p:txBody>
          <a:bodyPr wrap="square" lIns="0" tIns="0" rIns="0" bIns="0" rtlCol="0" anchor="ctr"/>
          <a:lstStyle/>
          <a:p>
            <a:pPr indent="0" marL="0">
              <a:buNone/>
            </a:pPr>
            <a:r>
              <a:rPr lang="en-US" sz="2800" b="1" dirty="0">
                <a:solidFill>
                  <a:schemeClr val="accent2"/>
                </a:solidFill>
                <a:latin typeface="Cambria" pitchFamily="34" charset="0"/>
                <a:ea typeface="Cambria" pitchFamily="34" charset="-122"/>
                <a:cs typeface="Cambria" pitchFamily="34" charset="-120"/>
              </a:rPr>
              <a:t>3.5%</a:t>
            </a:r>
            <a:endParaRPr lang="en-US" sz="2800" dirty="0"/>
          </a:p>
        </p:txBody>
      </p:sp>
      <p:sp>
        <p:nvSpPr>
          <p:cNvPr id="14" name="Men value 2"/>
          <p:cNvSpPr txBox="1"/>
          <p:nvPr/>
        </p:nvSpPr>
        <p:spPr>
          <a:xfrm>
            <a:off x="7452360" y="3063240"/>
            <a:ext cx="1097280" cy="457200"/>
          </a:xfrm>
          <a:prstGeom prst="rect">
            <a:avLst/>
          </a:prstGeom>
          <a:noFill/>
          <a:ln/>
        </p:spPr>
        <p:txBody>
          <a:bodyPr wrap="square" lIns="0" tIns="0" rIns="0" bIns="0" rtlCol="0" anchor="ctr"/>
          <a:lstStyle/>
          <a:p>
            <a:pPr indent="0" marL="0">
              <a:buNone/>
            </a:pPr>
            <a:r>
              <a:rPr lang="en-US" sz="2800" b="1" dirty="0">
                <a:solidFill>
                  <a:schemeClr val="accent1"/>
                </a:solidFill>
                <a:latin typeface="Cambria" pitchFamily="34" charset="0"/>
                <a:ea typeface="Cambria" pitchFamily="34" charset="-122"/>
                <a:cs typeface="Cambria" pitchFamily="34" charset="-120"/>
              </a:rPr>
              <a:t>39.7%</a:t>
            </a:r>
            <a:endParaRPr lang="en-US" sz="2800" dirty="0"/>
          </a:p>
        </p:txBody>
      </p:sp>
      <p:sp>
        <p:nvSpPr>
          <p:cNvPr id="15" name="Women tag 2"/>
          <p:cNvSpPr txBox="1"/>
          <p:nvPr/>
        </p:nvSpPr>
        <p:spPr>
          <a:xfrm>
            <a:off x="6126480" y="3538728"/>
            <a:ext cx="1097280" cy="228600"/>
          </a:xfrm>
          <a:prstGeom prst="rect">
            <a:avLst/>
          </a:prstGeom>
          <a:noFill/>
          <a:ln/>
        </p:spPr>
        <p:txBody>
          <a:bodyPr wrap="square" lIns="0" tIns="0" rIns="0" bIns="0" rtlCol="0" anchor="ctr"/>
          <a:lstStyle/>
          <a:p>
            <a:pPr indent="0" marL="0">
              <a:buNone/>
            </a:pPr>
            <a:r>
              <a:rPr lang="en-US" sz="1200" dirty="0">
                <a:solidFill>
                  <a:schemeClr val="tx1"/>
                </a:solidFill>
              </a:rPr>
              <a:t>women</a:t>
            </a:r>
            <a:endParaRPr lang="en-US" sz="1200" dirty="0"/>
          </a:p>
        </p:txBody>
      </p:sp>
      <p:sp>
        <p:nvSpPr>
          <p:cNvPr id="16" name="Men tag 2"/>
          <p:cNvSpPr txBox="1"/>
          <p:nvPr/>
        </p:nvSpPr>
        <p:spPr>
          <a:xfrm>
            <a:off x="7452360" y="3538728"/>
            <a:ext cx="1097280" cy="228600"/>
          </a:xfrm>
          <a:prstGeom prst="rect">
            <a:avLst/>
          </a:prstGeom>
          <a:noFill/>
          <a:ln/>
        </p:spPr>
        <p:txBody>
          <a:bodyPr wrap="square" lIns="0" tIns="0" rIns="0" bIns="0" rtlCol="0" anchor="ctr"/>
          <a:lstStyle/>
          <a:p>
            <a:pPr indent="0" marL="0">
              <a:buNone/>
            </a:pPr>
            <a:r>
              <a:rPr lang="en-US" sz="1200" dirty="0">
                <a:solidFill>
                  <a:schemeClr val="tx1"/>
                </a:solidFill>
              </a:rPr>
              <a:t>men</a:t>
            </a:r>
            <a:endParaRPr lang="en-US" sz="1200" dirty="0"/>
          </a:p>
        </p:txBody>
      </p:sp>
      <p:sp>
        <p:nvSpPr>
          <p:cNvPr id="17" name="Caveat"/>
          <p:cNvSpPr txBox="1"/>
          <p:nvPr/>
        </p:nvSpPr>
        <p:spPr>
          <a:xfrm>
            <a:off x="457200" y="4754880"/>
            <a:ext cx="7863840" cy="228600"/>
          </a:xfrm>
          <a:prstGeom prst="rect">
            <a:avLst/>
          </a:prstGeom>
          <a:noFill/>
          <a:ln/>
        </p:spPr>
        <p:txBody>
          <a:bodyPr wrap="square" lIns="0" tIns="0" rIns="0" bIns="0" rtlCol="0" anchor="ctr"/>
          <a:lstStyle/>
          <a:p>
            <a:pPr indent="0" marL="0">
              <a:buNone/>
            </a:pPr>
            <a:r>
              <a:rPr lang="en-US" sz="1000" i="1" dirty="0">
                <a:solidFill>
                  <a:schemeClr val="accent5"/>
                </a:solidFill>
              </a:rPr>
              <a:t>Descriptive only: this cannot show why the gap exists or that age itself causes it.</a:t>
            </a:r>
            <a:endParaRPr lang="en-US" sz="1000" dirty="0"/>
          </a:p>
        </p:txBody>
      </p:sp>
      <p:sp>
        <p:nvSpPr>
          <p:cNvPr id="25" name="Slide Number Placeholder 0"/>
          <p:cNvSpPr>
            <a:spLocks noGrp="1"/>
          </p:cNvSpPr>
          <p:nvPr>
            <p:ph type="sldNum" sz="quarter" idx="4294967295"/>
          </p:nvPr>
        </p:nvSpPr>
        <p:spPr>
          <a:xfrm>
            <a:off x="8412480" y="4754880"/>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theme/theme1.xml><?xml version="1.0" encoding="utf-8"?>
<a:theme xmlns:a="http://schemas.openxmlformats.org/drawingml/2006/main" name="ECO346 Balochistan">
  <a:themeElements>
    <a:clrScheme name="ECO346 Balochistan">
      <a:dk1>
        <a:srgbClr val="1B1F2A"/>
      </a:dk1>
      <a:lt1>
        <a:srgbClr val="FFFFFF"/>
      </a:lt1>
      <a:dk2>
        <a:srgbClr val="14324F"/>
      </a:dk2>
      <a:lt2>
        <a:srgbClr val="F2F4F7"/>
      </a:lt2>
      <a:accent1>
        <a:srgbClr val="1F4E79"/>
      </a:accent1>
      <a:accent2>
        <a:srgbClr val="B7532A"/>
      </a:accent2>
      <a:accent3>
        <a:srgbClr val="5B7C99"/>
      </a:accent3>
      <a:accent4>
        <a:srgbClr val="D9A441"/>
      </a:accent4>
      <a:accent5>
        <a:srgbClr val="7A8B99"/>
      </a:accent5>
      <a:accent6>
        <a:srgbClr val="2E7D6B"/>
      </a:accent6>
      <a:hlink>
        <a:srgbClr val="1F4E79"/>
      </a:hlink>
      <a:folHlink>
        <a:srgbClr val="5B7C99"/>
      </a:folHlink>
    </a:clrScheme>
    <a:fontScheme name="ECO346 Balochistan">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Slide 1</vt:lpstr>
      <vt:lpstr>Slide 2</vt:lpstr>
      <vt:lpstr>Slide 3</vt:lpstr>
      <vt:lpstr>Slide 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ECO346 Assignment 1 - FA24-BEDS-022</dc:title>
  <dc:subject>PptxGenJS Presentation</dc:subject>
  <dc:creator>FA24-BEDS-022</dc:creator>
  <cp:lastModifiedBy>FA24-BEDS-022</cp:lastModifiedBy>
  <cp:revision>1</cp:revision>
  <dcterms:created xsi:type="dcterms:W3CDTF">2026-10-26T09:49:41Z</dcterms:created>
  <dcterms:modified xsi:type="dcterms:W3CDTF">2026-10-26T09:49:41Z</dcterms:modified>
</cp:coreProperties>
</file>